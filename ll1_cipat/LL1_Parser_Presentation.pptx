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parser is the core of syntax analysis. We are focusing on the top-down parser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LL(1) is highly efficient because it predicts the rule to use by looking at just one symbol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goal with this LL(1) parser is speed and clear error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main data structures. The driver loops and checks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algorithm simply matches terminals, or expands non-terminals using the predictive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must eliminate left recursion and perform left factoring to make a grammar LL(1).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table has no overlapping entries, so the grammar is LL(1).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shows the stack expanding and matching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parsing concludes when the stack and input both contain only 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see an error caught correctly. Also summarizing advantages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LL(1) Parser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Compiler Design (3170701)</a:t>
            </a:r>
          </a:p>
          <a:p>
            <a:r>
              <a:t>C. K. Pithawala College of Engineering and Technology</a:t>
            </a:r>
          </a:p>
          <a:p>
            <a:r>
              <a:t>Computer Engineering</a:t>
            </a:r>
          </a:p>
          <a:p/>
          <a:p>
            <a:r>
              <a:t>Team: [Name 1], [Name 2], [Name 3], [Name 4], [Name 5]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Parsing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Pipeline:</a:t>
            </a:r>
          </a:p>
          <a:p>
            <a:r>
              <a:t>Source → Lexer → **Parser** → Semantic → ICG → Optimizer → Codegen</a:t>
            </a:r>
          </a:p>
          <a:p>
            <a:r>
              <a:t>The parser takes tokens and builds a derivation (parse tree).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LL(1)?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 = Left-to-right scan of input</a:t>
            </a:r>
          </a:p>
          <a:p>
            <a:r>
              <a:t>L = Leftmost derivation</a:t>
            </a:r>
          </a:p>
          <a:p>
            <a:r>
              <a:t>1 = one lookahead symbol</a:t>
            </a:r>
          </a:p>
          <a:p>
            <a:r>
              <a:t>Top-down predictive parsing</a:t>
            </a:r>
          </a:p>
          <a:p>
            <a:r>
              <a:t>No backtracking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Parse without backtracking</a:t>
            </a:r>
          </a:p>
          <a:p>
            <a:r>
              <a:t>Use a table-driven predictive approach</a:t>
            </a:r>
          </a:p>
          <a:p>
            <a:r>
              <a:t>Detect syntax errors early</a:t>
            </a:r>
          </a:p>
          <a:p>
            <a:r>
              <a:t>Run in linear time (O(n))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buffer: contains string to parse followed by $</a:t>
            </a:r>
          </a:p>
          <a:p>
            <a:r>
              <a:t>Stack: holds grammar symbols, bottom is $</a:t>
            </a:r>
          </a:p>
          <a:p>
            <a:r>
              <a:t>Parsing table M[A,a]: 2D array predicting rules</a:t>
            </a:r>
          </a:p>
          <a:p>
            <a:r>
              <a:t>Driver program: executes actions</a:t>
            </a:r>
          </a:p>
          <a:p>
            <a:r>
              <a:t>Output: the sequence of derivations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Parsing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Driver rules:</a:t>
            </a:r>
          </a:p>
          <a:p>
            <a:r>
              <a:t>(1) X = a = $ → accept</a:t>
            </a:r>
          </a:p>
          <a:p>
            <a:r>
              <a:t>(2) X = a ≠ $ → pop and advance</a:t>
            </a:r>
          </a:p>
          <a:p>
            <a:r>
              <a:t>(3) X terminal ≠ a → error</a:t>
            </a:r>
          </a:p>
          <a:p>
            <a:r>
              <a:t>(4) X non-terminal → look up M[X,a], pop X, push RHS in reverse</a:t>
            </a:r>
          </a:p>
          <a:p>
            <a:r>
              <a:t>If M[X,a] is blank → error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Grammar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Original: E → E+T | T; T → T*F | F; F → (E) | id</a:t>
            </a:r>
          </a:p>
          <a:p>
            <a:r>
              <a:t>After left recursion removal: E → TE'; E' → +TE' | ε ...</a:t>
            </a:r>
          </a:p>
          <a:p>
            <a:r>
              <a:t>FIRST: terminals that begin the strings derivable from a symbol</a:t>
            </a:r>
          </a:p>
          <a:p>
            <a:r>
              <a:t>FOLLOW: terminals that can appear immediately to the right of a non-terminal</a:t>
            </a:r>
          </a:p>
          <a:p>
            <a:r>
              <a:t>Left factoring: required if two rules share a prefix.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FIRST, FOLLOW and Parsing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E→TE'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E→TE'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E'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E'→+TE'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E'→ε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E'→ε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T→FT'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T→FT'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T'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T'→*FT'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T'→ε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T'→ε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F→id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F→(E)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Step-by-Step Parsing: id + id * id (1-8)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06400">
                <a:tc>
                  <a:txBody>
                    <a:bodyPr/>
                    <a:lstStyle/>
                    <a:p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Action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 + id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 → T E'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 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 + id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 → F T'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 T' 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 + id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 → id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 T' 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 + id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match id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T' 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 id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T' → ε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 id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E' → + T E'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 T 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 id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match +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 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 → F T'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Step-by-Step Parsing: id + id * id (9-17)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 T' 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 → 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 T' 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match 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T' 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T' → * F T'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* F T' 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match *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 T' 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 → 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 T' 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match 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T' 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T' → ε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E' → ε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ACCEPT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Case (id + * id) &amp; Attributes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371600"/>
          <a:ext cx="4114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04800">
                <a:tc>
                  <a:txBody>
                    <a:bodyPr/>
                    <a:lstStyle/>
                    <a:p>
                      <a:r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Action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E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 +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 → T E'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T 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 +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 → F T'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F T' 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 +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 → id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id T' 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 +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match id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T' 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T' → ε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E' → + T E'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+ T 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 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match +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T E'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* 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ERROR: M[T,*] empty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Advantages: Simple, no backtracking, O(n) time, easy to debug.</a:t>
            </a:r>
          </a:p>
          <a:p>
            <a:r>
              <a:t>Limitations: No left recursion, needs left factoring, less powerful than LR, hard to recover from errors.</a:t>
            </a:r>
          </a:p>
          <a:p>
            <a:r>
              <a:t>Applications: Recursive descent, data formats (JSON), teaching compilers.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- Successfully implemented LL(1) parsing in Python.</a:t>
            </a:r>
          </a:p>
          <a:p>
            <a:r>
              <a:t>- Handled First/Follow generation and trace simulation.</a:t>
            </a:r>
          </a:p>
          <a:p>
            <a:r>
              <a:t>- Thank you! Questions?</a:t>
            </a:r>
          </a:p>
        </p:txBody>
      </p:sp>
      <p:pic>
        <p:nvPicPr>
          <p:cNvPr id="4" name="Picture 3" descr="shot_ac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3657600" cy="1659568"/>
          </a:xfrm>
          <a:prstGeom prst="rect">
            <a:avLst/>
          </a:prstGeom>
        </p:spPr>
      </p:pic>
      <p:pic>
        <p:nvPicPr>
          <p:cNvPr id="5" name="Picture 4" descr="shot_rej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43200"/>
            <a:ext cx="3657600" cy="10419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